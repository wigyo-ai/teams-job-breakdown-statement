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8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91440"/>
            <a:ext cx="1179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</a:rPr>
              <a:t>Certis Security — JBS Automation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47548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Solution Architecture  ·  H2O.ai Enterprise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" y="777240"/>
            <a:ext cx="11823192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56032" y="822960"/>
            <a:ext cx="1874519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877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CHANNELS &amp;
EXTERNAL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822960"/>
            <a:ext cx="1874519" cy="502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06040" y="877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4A3B8"/>
                </a:solidFill>
              </a:rPr>
              <a:t>INGESTION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822960"/>
            <a:ext cx="1874519" cy="502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56048" y="877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4A3B8"/>
                </a:solidFill>
              </a:rPr>
              <a:t>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06056" y="822960"/>
            <a:ext cx="1874519" cy="5029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06056" y="877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A8A04"/>
                </a:solidFill>
              </a:rPr>
              <a:t>AI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56064" y="822960"/>
            <a:ext cx="1874519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56064" y="877824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563EB"/>
                </a:solidFill>
              </a:rPr>
              <a:t>MONITORING
&amp;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3291" y="500176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webhook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470230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webhook POST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 flipV="1">
            <a:off x="6163056" y="6035040"/>
            <a:ext cx="475488" cy="8335"/>
          </a:xfrm>
          <a:prstGeom prst="line">
            <a:avLst/>
          </a:prstGeom>
          <a:ln w="25400" cap="flat">
            <a:solidFill>
              <a:srgbClr val="2563E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66944" y="517631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forward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H="1" flipV="1">
            <a:off x="6131053" y="5763006"/>
            <a:ext cx="388619" cy="9144"/>
          </a:xfrm>
          <a:prstGeom prst="line">
            <a:avLst/>
          </a:prstGeom>
          <a:ln w="19050" cap="flat">
            <a:solidFill>
              <a:srgbClr val="2563EB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0" y="537748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reply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3821" y="601103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RAG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0520" y="5866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996" y="53802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Phase 5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06056" y="599012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.docx upload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9856" y="596321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Phase 4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3388920" y="5618988"/>
            <a:ext cx="475488" cy="274320"/>
          </a:xfrm>
          <a:prstGeom prst="line">
            <a:avLst/>
          </a:prstGeom>
          <a:ln w="25400" cap="flat">
            <a:solidFill>
              <a:srgbClr val="16A34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61687" y="566699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B7280"/>
                </a:solidFill>
              </a:rPr>
              <a:t>Graph API daily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38544" y="5874384"/>
            <a:ext cx="475488" cy="45720"/>
          </a:xfrm>
          <a:prstGeom prst="line">
            <a:avLst/>
          </a:prstGeom>
          <a:ln w="25400" cap="flat">
            <a:solidFill>
              <a:srgbClr val="16A34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79008" y="532192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raw documents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492211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 err="1">
                <a:solidFill>
                  <a:srgbClr val="6B7280"/>
                </a:solidFill>
              </a:rPr>
              <a:t>chunks+embeds</a:t>
            </a:r>
            <a:endParaRPr sz="700" b="0" i="0" dirty="0">
              <a:solidFill>
                <a:srgbClr val="6B7280"/>
              </a:solidFill>
            </a:endParaRPr>
          </a:p>
        </p:txBody>
      </p:sp>
      <p:cxnSp>
        <p:nvCxnSpPr>
          <p:cNvPr id="40" name="Connector 39"/>
          <p:cNvCxnSpPr/>
          <p:nvPr/>
        </p:nvCxnSpPr>
        <p:spPr>
          <a:xfrm flipV="1">
            <a:off x="592103" y="4901184"/>
            <a:ext cx="0" cy="512064"/>
          </a:xfrm>
          <a:prstGeom prst="line">
            <a:avLst/>
          </a:prstGeom>
          <a:ln w="19050" cap="flat">
            <a:solidFill>
              <a:srgbClr val="0EA5E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79646" y="557098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admin API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0236" y="623701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 dirty="0">
                <a:solidFill>
                  <a:srgbClr val="6B7280"/>
                </a:solidFill>
              </a:rPr>
              <a:t>metrics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6032" y="1197863"/>
            <a:ext cx="1874519" cy="412575"/>
          </a:xfrm>
          <a:prstGeom prst="round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4532D"/>
                </a:solidFill>
              </a:rPr>
              <a:t>WhatsApp</a:t>
            </a:r>
          </a:p>
          <a:p>
            <a:pPr algn="ctr"/>
            <a:r>
              <a:rPr sz="850" b="0">
                <a:solidFill>
                  <a:srgbClr val="14532D"/>
                </a:solidFill>
              </a:rPr>
              <a:t>Business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" y="1818957"/>
            <a:ext cx="1874519" cy="420791"/>
          </a:xfrm>
          <a:prstGeom prst="round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4532D"/>
                </a:solidFill>
              </a:rPr>
              <a:t>Telegram</a:t>
            </a:r>
          </a:p>
          <a:p>
            <a:pPr algn="ctr"/>
            <a:r>
              <a:rPr sz="850" b="0">
                <a:solidFill>
                  <a:srgbClr val="14532D"/>
                </a:solidFill>
              </a:rPr>
              <a:t>Bot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56065" y="3104670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SharePoint</a:t>
            </a:r>
          </a:p>
          <a:p>
            <a:pPr algn="ctr"/>
            <a:r>
              <a:rPr sz="850" b="0">
                <a:solidFill>
                  <a:srgbClr val="1E3A8A"/>
                </a:solidFill>
              </a:rPr>
              <a:t>Online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06040" y="1189648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Webhook Service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FastAPI :8000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40" y="1818958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SharePoint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Sync CronJob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56048" y="1181311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Conversation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Orchestrator :8001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56048" y="1829393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Admin Dashboard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H2O Wave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06056" y="1840837"/>
            <a:ext cx="1874519" cy="420791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Document AI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(HAIC Native)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38050" y="2440687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Document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Generator :8002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06056" y="1169043"/>
            <a:ext cx="1874519" cy="420791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Enterprise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h2oGPTe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56064" y="1179459"/>
            <a:ext cx="1874519" cy="439146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MLOps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(HAIC Native)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56065" y="1863869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Mozart API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56065" y="2487395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S3 Object</a:t>
            </a:r>
          </a:p>
          <a:p>
            <a:pPr algn="ctr"/>
            <a:r>
              <a:rPr sz="850" b="0">
                <a:solidFill>
                  <a:srgbClr val="1E3A8A"/>
                </a:solidFill>
              </a:rPr>
              <a:t>Store (HAIC)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6382512"/>
            <a:ext cx="128016" cy="128016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0624" y="6355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Client / Messaging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883664" y="6382512"/>
            <a:ext cx="128016" cy="12801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048256" y="6355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Integration / Middleware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11296" y="6382512"/>
            <a:ext cx="128016" cy="128016"/>
          </a:xfrm>
          <a:prstGeom prst="rect">
            <a:avLst/>
          </a:prstGeom>
          <a:solidFill>
            <a:srgbClr val="CA8A04"/>
          </a:solidFill>
          <a:ln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675887" y="6355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AI &amp; Data (H2O.ai)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38928" y="6382512"/>
            <a:ext cx="128016" cy="12801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03520" y="6355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280"/>
                </a:solidFill>
              </a:rPr>
              <a:t>External Systems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6032" y="6601968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E5E7EB"/>
                </a:solidFill>
              </a:rPr>
              <a:t>Solid arrows = primary data flow   ·   Dashed arrows = return / admin flows   ·   Each shape is independently moveable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8600" y="91440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</a:rPr>
              <a:t>JBS Automation Platform — Workflow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3850686"/>
            <a:ext cx="2809494" cy="81033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258" y="3772790"/>
            <a:ext cx="291221" cy="27432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14532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960415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User Sends 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4167136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Security personnel send a message via WhatsApp or Telegram to initiate or continue a JBS interview session.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2686" y="3850687"/>
            <a:ext cx="2809494" cy="82655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94344" y="3772790"/>
            <a:ext cx="291221" cy="274320"/>
          </a:xfrm>
          <a:prstGeom prst="ellipse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1E293B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8174" y="3960415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Webhook Validates Signature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8990" y="4155561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Webhook Service receives the event and verifies HMAC-SHA256 signature (WhatsApp) or Telegram token to prevent spoofing.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6772" y="3850687"/>
            <a:ext cx="2809494" cy="84118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68430" y="3772790"/>
            <a:ext cx="291221" cy="274320"/>
          </a:xfrm>
          <a:prstGeom prst="ellipse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2260" y="3960415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Forward to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4155561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Validated payload normalised to internal schema (channel, user_id, text, reply_to) and POSTed to the Conversation Orchestrator.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0858" y="3850687"/>
            <a:ext cx="2809494" cy="84118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42516" y="3772790"/>
            <a:ext cx="291221" cy="274320"/>
          </a:xfrm>
          <a:prstGeom prst="ellipse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1E293B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6346" y="3960415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Session Loaded &amp; Phase 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7162" y="4155561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loads lightweight session from SQLite (phase + collected fields). Turn history lives natively in h2oGPTe — no Redis pod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866931"/>
            <a:ext cx="2809494" cy="8265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20258" y="4789034"/>
            <a:ext cx="291221" cy="274320"/>
          </a:xfrm>
          <a:prstGeom prst="ellipse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713F12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97665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Prompt Built &amp; h2oGPTe Called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5183380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Phase-specific system prompt assembled with anti-hallucination rules. Sent to h2oGPTe with </a:t>
            </a:r>
            <a:r>
              <a:rPr sz="780" dirty="0" err="1">
                <a:solidFill>
                  <a:srgbClr val="6B7280"/>
                </a:solidFill>
              </a:rPr>
              <a:t>conversation_id</a:t>
            </a:r>
            <a:r>
              <a:rPr sz="780" dirty="0">
                <a:solidFill>
                  <a:srgbClr val="6B7280"/>
                </a:solidFill>
              </a:rPr>
              <a:t> for RAG vector search.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2686" y="4866931"/>
            <a:ext cx="2809494" cy="82655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94344" y="4789034"/>
            <a:ext cx="291221" cy="274320"/>
          </a:xfrm>
          <a:prstGeom prst="ellipse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713F12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78174" y="497665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RAG Vector Search + LLM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8990" y="5183380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h2oGPTe retrieves relevant SOP chunks from the site-category collection (Corporate / Aviation / Industrial / Maritime / Retail) via hnswlib.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6772" y="4866932"/>
            <a:ext cx="2809494" cy="8265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068430" y="4789034"/>
            <a:ext cx="291221" cy="274320"/>
          </a:xfrm>
          <a:prstGeom prst="ellipse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>
                <a:solidFill>
                  <a:srgbClr val="14532D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2260" y="497665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Response Returned to 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3076" y="5183380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saves updated phase state. LLM reply sent back through Webhook Service via WhatsApp Cloud API or Telegram sendMessage.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50858" y="4866932"/>
            <a:ext cx="2809494" cy="8265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042516" y="4789034"/>
            <a:ext cx="291221" cy="274320"/>
          </a:xfrm>
          <a:prstGeom prst="ellipse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1E3A8A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6346" y="4976659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Phase 4: Mozart Reference Lookup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7162" y="5183380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Orchestrator calls Mozart REST API with the user-provided Site ID to fetch linked reference documents (SOPs, Emergency Plans).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" y="5883185"/>
            <a:ext cx="2809494" cy="7863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20258" y="5805288"/>
            <a:ext cx="291221" cy="274320"/>
          </a:xfrm>
          <a:prstGeom prst="ellipse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1E293B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" y="5992913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Phase 5: Document Generation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" y="6188059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On user APPROVE in Phase 5, Orchestrator assembles the complete JBS JSON payload and calls the Document Generator service.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2686" y="5883185"/>
            <a:ext cx="2809494" cy="7863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3094344" y="5805288"/>
            <a:ext cx="291221" cy="274320"/>
          </a:xfrm>
          <a:prstGeom prst="ellipse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78174" y="5992913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.docx Rendered &amp; Uploaded to S3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48990" y="6188059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dirty="0">
                <a:solidFill>
                  <a:srgbClr val="6B7280"/>
                </a:solidFill>
              </a:rPr>
              <a:t>python-docx renders JBS JSON into the corporate Word template. File uploaded to S3 and a 15-minute </a:t>
            </a:r>
            <a:r>
              <a:rPr sz="780" dirty="0" err="1">
                <a:solidFill>
                  <a:srgbClr val="6B7280"/>
                </a:solidFill>
              </a:rPr>
              <a:t>presigned</a:t>
            </a:r>
            <a:r>
              <a:rPr sz="780" dirty="0">
                <a:solidFill>
                  <a:srgbClr val="6B7280"/>
                </a:solidFill>
              </a:rPr>
              <a:t> download URL sent to user.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6772" y="5883185"/>
            <a:ext cx="2809494" cy="7863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6068430" y="5805288"/>
            <a:ext cx="291221" cy="274320"/>
          </a:xfrm>
          <a:prstGeom prst="ellipse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52260" y="5992913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Daily SharePoint Sync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23076" y="6188059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CronJob at 02:00 UTC pulls changed SOPs from SharePoint via Microsoft Graph API. H2O Document AI OCRs, chunks and ingests into h2oGPTe collections.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50858" y="5871607"/>
            <a:ext cx="2809494" cy="78632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042516" y="5793713"/>
            <a:ext cx="291221" cy="274320"/>
          </a:xfrm>
          <a:prstGeom prst="ellipse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dirty="0">
                <a:solidFill>
                  <a:srgbClr val="713F12"/>
                </a:solidFill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26346" y="5981338"/>
            <a:ext cx="226085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</a:rPr>
              <a:t>Admin Monitoring &amp; Control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97162" y="6188059"/>
            <a:ext cx="2535174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>
                <a:solidFill>
                  <a:srgbClr val="6B7280"/>
                </a:solidFill>
              </a:rPr>
              <a:t>H2O Wave Admin Dashboard (HAIC App Store) monitors active interviews and triggers syncs. H2O MLOps tracks latency, error rate, and drift.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402DE3-648D-53BC-8D0F-C656A4D9ED38}"/>
              </a:ext>
            </a:extLst>
          </p:cNvPr>
          <p:cNvSpPr/>
          <p:nvPr/>
        </p:nvSpPr>
        <p:spPr>
          <a:xfrm>
            <a:off x="256032" y="672485"/>
            <a:ext cx="1874519" cy="502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CDC9AE6-8468-C2F8-1364-092180ACB5C3}"/>
              </a:ext>
            </a:extLst>
          </p:cNvPr>
          <p:cNvSpPr txBox="1"/>
          <p:nvPr/>
        </p:nvSpPr>
        <p:spPr>
          <a:xfrm>
            <a:off x="256032" y="72734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6A34A"/>
                </a:solidFill>
              </a:rPr>
              <a:t>CHANNELS &amp;
EXTERNAL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E5C268-6289-9188-DE63-96F2D72A23A9}"/>
              </a:ext>
            </a:extLst>
          </p:cNvPr>
          <p:cNvSpPr/>
          <p:nvPr/>
        </p:nvSpPr>
        <p:spPr>
          <a:xfrm>
            <a:off x="2606040" y="672485"/>
            <a:ext cx="1874519" cy="502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D3F376-EC90-DD1E-F3E9-48F8F779783D}"/>
              </a:ext>
            </a:extLst>
          </p:cNvPr>
          <p:cNvSpPr txBox="1"/>
          <p:nvPr/>
        </p:nvSpPr>
        <p:spPr>
          <a:xfrm>
            <a:off x="2606040" y="72734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4A3B8"/>
                </a:solidFill>
              </a:rPr>
              <a:t>INGESTION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9748CA5-3B48-CFC6-43DF-F29C3FB02443}"/>
              </a:ext>
            </a:extLst>
          </p:cNvPr>
          <p:cNvSpPr/>
          <p:nvPr/>
        </p:nvSpPr>
        <p:spPr>
          <a:xfrm>
            <a:off x="4956048" y="672485"/>
            <a:ext cx="1874519" cy="502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2B2D242-E8DE-F1BD-F1A0-A2FE8F403C3B}"/>
              </a:ext>
            </a:extLst>
          </p:cNvPr>
          <p:cNvSpPr txBox="1"/>
          <p:nvPr/>
        </p:nvSpPr>
        <p:spPr>
          <a:xfrm>
            <a:off x="4956048" y="72734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94A3B8"/>
                </a:solidFill>
              </a:rPr>
              <a:t>ORCHESTRATION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E6BBE9-E28D-39B5-A355-86CE162A33F9}"/>
              </a:ext>
            </a:extLst>
          </p:cNvPr>
          <p:cNvSpPr/>
          <p:nvPr/>
        </p:nvSpPr>
        <p:spPr>
          <a:xfrm>
            <a:off x="7306056" y="672485"/>
            <a:ext cx="1874519" cy="5029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E2E7AC-200D-6F1F-DA7C-646B723674DD}"/>
              </a:ext>
            </a:extLst>
          </p:cNvPr>
          <p:cNvSpPr txBox="1"/>
          <p:nvPr/>
        </p:nvSpPr>
        <p:spPr>
          <a:xfrm>
            <a:off x="7306056" y="72734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A8A04"/>
                </a:solidFill>
              </a:rPr>
              <a:t>AI ENGINE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0732EF4-BB5C-5B9C-5F88-EEAEE91E9621}"/>
              </a:ext>
            </a:extLst>
          </p:cNvPr>
          <p:cNvSpPr/>
          <p:nvPr/>
        </p:nvSpPr>
        <p:spPr>
          <a:xfrm>
            <a:off x="9656064" y="672485"/>
            <a:ext cx="1874519" cy="502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68399C8-6F3C-7057-6024-8FEC772F4EBF}"/>
              </a:ext>
            </a:extLst>
          </p:cNvPr>
          <p:cNvSpPr txBox="1"/>
          <p:nvPr/>
        </p:nvSpPr>
        <p:spPr>
          <a:xfrm>
            <a:off x="9656064" y="727349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2563EB"/>
                </a:solidFill>
              </a:rPr>
              <a:t>MONITORING
&amp; DATA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00C70CE7-E6A1-C5E2-A268-FE50AB4CC8F0}"/>
              </a:ext>
            </a:extLst>
          </p:cNvPr>
          <p:cNvSpPr/>
          <p:nvPr/>
        </p:nvSpPr>
        <p:spPr>
          <a:xfrm>
            <a:off x="256032" y="1047388"/>
            <a:ext cx="1874519" cy="412575"/>
          </a:xfrm>
          <a:prstGeom prst="round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4532D"/>
                </a:solidFill>
              </a:rPr>
              <a:t>WhatsApp</a:t>
            </a:r>
          </a:p>
          <a:p>
            <a:pPr algn="ctr"/>
            <a:r>
              <a:rPr sz="850" b="0">
                <a:solidFill>
                  <a:srgbClr val="14532D"/>
                </a:solidFill>
              </a:rPr>
              <a:t>Business API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44FD01BC-6C00-2B34-0E21-E9E890B806CE}"/>
              </a:ext>
            </a:extLst>
          </p:cNvPr>
          <p:cNvSpPr/>
          <p:nvPr/>
        </p:nvSpPr>
        <p:spPr>
          <a:xfrm>
            <a:off x="256032" y="1668482"/>
            <a:ext cx="1874519" cy="420791"/>
          </a:xfrm>
          <a:prstGeom prst="round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4532D"/>
                </a:solidFill>
              </a:rPr>
              <a:t>Telegram</a:t>
            </a:r>
          </a:p>
          <a:p>
            <a:pPr algn="ctr"/>
            <a:r>
              <a:rPr sz="850" b="0">
                <a:solidFill>
                  <a:srgbClr val="14532D"/>
                </a:solidFill>
              </a:rPr>
              <a:t>Bot API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8DBD0AC0-4691-7467-0A5C-075DDB6E016F}"/>
              </a:ext>
            </a:extLst>
          </p:cNvPr>
          <p:cNvSpPr/>
          <p:nvPr/>
        </p:nvSpPr>
        <p:spPr>
          <a:xfrm>
            <a:off x="9656065" y="2954195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SharePoint</a:t>
            </a:r>
          </a:p>
          <a:p>
            <a:pPr algn="ctr"/>
            <a:r>
              <a:rPr sz="850" b="0">
                <a:solidFill>
                  <a:srgbClr val="1E3A8A"/>
                </a:solidFill>
              </a:rPr>
              <a:t>Online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E7FA04BE-CA06-2630-1160-EBD7E967C6C0}"/>
              </a:ext>
            </a:extLst>
          </p:cNvPr>
          <p:cNvSpPr/>
          <p:nvPr/>
        </p:nvSpPr>
        <p:spPr>
          <a:xfrm>
            <a:off x="2606040" y="1039173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Webhook Service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FastAPI :8000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C6A770AB-CF6D-81DD-9B41-F6BB373B9FF2}"/>
              </a:ext>
            </a:extLst>
          </p:cNvPr>
          <p:cNvSpPr/>
          <p:nvPr/>
        </p:nvSpPr>
        <p:spPr>
          <a:xfrm>
            <a:off x="2606040" y="1668483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SharePoint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Sync CronJob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575C8F06-24AA-E54F-E012-74C765DDB36A}"/>
              </a:ext>
            </a:extLst>
          </p:cNvPr>
          <p:cNvSpPr/>
          <p:nvPr/>
        </p:nvSpPr>
        <p:spPr>
          <a:xfrm>
            <a:off x="4956048" y="1030836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Conversation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Orchestrator :8001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03A092BF-BEC7-05AF-DA5F-7F2286C6266F}"/>
              </a:ext>
            </a:extLst>
          </p:cNvPr>
          <p:cNvSpPr/>
          <p:nvPr/>
        </p:nvSpPr>
        <p:spPr>
          <a:xfrm>
            <a:off x="4956048" y="1678918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Admin Dashboard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H2O Wave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F7FBEC9D-83F0-F28D-B15C-D65664B34ED5}"/>
              </a:ext>
            </a:extLst>
          </p:cNvPr>
          <p:cNvSpPr/>
          <p:nvPr/>
        </p:nvSpPr>
        <p:spPr>
          <a:xfrm>
            <a:off x="7306056" y="1690362"/>
            <a:ext cx="1874519" cy="420791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Document AI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(HAIC Native)</a:t>
            </a:r>
          </a:p>
        </p:txBody>
      </p: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848D433C-A9B9-0B71-BEFD-079B6EDD2F27}"/>
              </a:ext>
            </a:extLst>
          </p:cNvPr>
          <p:cNvSpPr/>
          <p:nvPr/>
        </p:nvSpPr>
        <p:spPr>
          <a:xfrm>
            <a:off x="4938050" y="2290212"/>
            <a:ext cx="1874519" cy="420791"/>
          </a:xfrm>
          <a:prstGeom prst="roundRect">
            <a:avLst/>
          </a:prstGeom>
          <a:solidFill>
            <a:srgbClr val="F1F5F9"/>
          </a:solidFill>
          <a:ln w="2286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293B"/>
                </a:solidFill>
              </a:rPr>
              <a:t>Document</a:t>
            </a:r>
          </a:p>
          <a:p>
            <a:pPr algn="ctr"/>
            <a:r>
              <a:rPr sz="850" b="0">
                <a:solidFill>
                  <a:srgbClr val="1E293B"/>
                </a:solidFill>
              </a:rPr>
              <a:t>Generator :8002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2A7F7069-0A04-39A5-BBF1-84AB292857D7}"/>
              </a:ext>
            </a:extLst>
          </p:cNvPr>
          <p:cNvSpPr/>
          <p:nvPr/>
        </p:nvSpPr>
        <p:spPr>
          <a:xfrm>
            <a:off x="7306056" y="1018568"/>
            <a:ext cx="1874519" cy="420791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Enterprise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h2oGPTe</a:t>
            </a:r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DD53E85D-E43F-2D03-7937-B5EEDB467391}"/>
              </a:ext>
            </a:extLst>
          </p:cNvPr>
          <p:cNvSpPr/>
          <p:nvPr/>
        </p:nvSpPr>
        <p:spPr>
          <a:xfrm>
            <a:off x="9656064" y="1028984"/>
            <a:ext cx="1874519" cy="439146"/>
          </a:xfrm>
          <a:prstGeom prst="roundRect">
            <a:avLst/>
          </a:prstGeom>
          <a:solidFill>
            <a:srgbClr val="FEFCE8"/>
          </a:solidFill>
          <a:ln w="2286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713F12"/>
                </a:solidFill>
              </a:rPr>
              <a:t>H2O MLOps</a:t>
            </a:r>
          </a:p>
          <a:p>
            <a:pPr algn="ctr"/>
            <a:r>
              <a:rPr sz="850" b="0">
                <a:solidFill>
                  <a:srgbClr val="713F12"/>
                </a:solidFill>
              </a:rPr>
              <a:t>(HAIC Native)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53ACF3B8-92C6-9318-5010-57EE3854B691}"/>
              </a:ext>
            </a:extLst>
          </p:cNvPr>
          <p:cNvSpPr/>
          <p:nvPr/>
        </p:nvSpPr>
        <p:spPr>
          <a:xfrm>
            <a:off x="9656065" y="1713394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Mozart API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B48E093D-C598-D6FF-9A2E-F19A52856189}"/>
              </a:ext>
            </a:extLst>
          </p:cNvPr>
          <p:cNvSpPr/>
          <p:nvPr/>
        </p:nvSpPr>
        <p:spPr>
          <a:xfrm>
            <a:off x="9656065" y="2336920"/>
            <a:ext cx="1874519" cy="439146"/>
          </a:xfrm>
          <a:prstGeom prst="roundRect">
            <a:avLst/>
          </a:prstGeom>
          <a:solidFill>
            <a:srgbClr val="DBEAFE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50" b="0">
                <a:solidFill>
                  <a:srgbClr val="1E3A8A"/>
                </a:solidFill>
              </a:rPr>
              <a:t>S3 Object</a:t>
            </a:r>
          </a:p>
          <a:p>
            <a:pPr algn="ctr"/>
            <a:r>
              <a:rPr sz="850" b="0">
                <a:solidFill>
                  <a:srgbClr val="1E3A8A"/>
                </a:solidFill>
              </a:rPr>
              <a:t>Store (HAIC)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548</Words>
  <Application>Microsoft Macintosh PowerPoint</Application>
  <PresentationFormat>Custom</PresentationFormat>
  <Paragraphs>118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Luke McCoy</cp:lastModifiedBy>
  <cp:revision>5</cp:revision>
  <dcterms:created xsi:type="dcterms:W3CDTF">2013-01-27T09:14:16Z</dcterms:created>
  <dcterms:modified xsi:type="dcterms:W3CDTF">2026-03-24T09:07:22Z</dcterms:modified>
  <cp:category/>
</cp:coreProperties>
</file>